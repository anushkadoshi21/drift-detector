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Barlow ExtraLight"/>
      <p:regular r:id="rId17"/>
      <p:bold r:id="rId18"/>
      <p:italic r:id="rId19"/>
      <p:boldItalic r:id="rId20"/>
    </p:embeddedFont>
    <p:embeddedFont>
      <p:font typeface="Hepta Slab Medium"/>
      <p:regular r:id="rId21"/>
      <p:bold r:id="rId22"/>
    </p:embeddedFont>
    <p:embeddedFont>
      <p:font typeface="Hepta Slab Light"/>
      <p:regular r:id="rId23"/>
      <p:bold r:id="rId24"/>
    </p:embeddedFont>
    <p:embeddedFont>
      <p:font typeface="Hepta Slab"/>
      <p:regular r:id="rId25"/>
      <p:bold r:id="rId26"/>
    </p:embeddedFont>
    <p:embeddedFont>
      <p:font typeface="Barlow Medium"/>
      <p:regular r:id="rId27"/>
      <p:bold r:id="rId28"/>
      <p:italic r:id="rId29"/>
      <p:boldItalic r:id="rId30"/>
    </p:embeddedFont>
    <p:embeddedFont>
      <p:font typeface="Barlow Light"/>
      <p:regular r:id="rId31"/>
      <p:bold r:id="rId32"/>
      <p:italic r:id="rId33"/>
      <p:boldItalic r:id="rId34"/>
    </p:embeddedFont>
    <p:embeddedFont>
      <p:font typeface="Barlow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ExtraLight-boldItalic.fntdata"/><Relationship Id="rId22" Type="http://schemas.openxmlformats.org/officeDocument/2006/relationships/font" Target="fonts/HeptaSlabMedium-bold.fntdata"/><Relationship Id="rId21" Type="http://schemas.openxmlformats.org/officeDocument/2006/relationships/font" Target="fonts/HeptaSlabMedium-regular.fntdata"/><Relationship Id="rId24" Type="http://schemas.openxmlformats.org/officeDocument/2006/relationships/font" Target="fonts/HeptaSlabLight-bold.fntdata"/><Relationship Id="rId23" Type="http://schemas.openxmlformats.org/officeDocument/2006/relationships/font" Target="fonts/HeptaSlab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ptaSlab-bold.fntdata"/><Relationship Id="rId25" Type="http://schemas.openxmlformats.org/officeDocument/2006/relationships/font" Target="fonts/HeptaSlab-regular.fntdata"/><Relationship Id="rId28" Type="http://schemas.openxmlformats.org/officeDocument/2006/relationships/font" Target="fonts/BarlowMedium-bold.fntdata"/><Relationship Id="rId27" Type="http://schemas.openxmlformats.org/officeDocument/2006/relationships/font" Target="fonts/Barlow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arlow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arlowLight-regular.fntdata"/><Relationship Id="rId30" Type="http://schemas.openxmlformats.org/officeDocument/2006/relationships/font" Target="fonts/BarlowMedium-boldItalic.fntdata"/><Relationship Id="rId11" Type="http://schemas.openxmlformats.org/officeDocument/2006/relationships/slide" Target="slides/slide6.xml"/><Relationship Id="rId33" Type="http://schemas.openxmlformats.org/officeDocument/2006/relationships/font" Target="fonts/BarlowLight-italic.fntdata"/><Relationship Id="rId10" Type="http://schemas.openxmlformats.org/officeDocument/2006/relationships/slide" Target="slides/slide5.xml"/><Relationship Id="rId32" Type="http://schemas.openxmlformats.org/officeDocument/2006/relationships/font" Target="fonts/BarlowLight-bold.fntdata"/><Relationship Id="rId13" Type="http://schemas.openxmlformats.org/officeDocument/2006/relationships/slide" Target="slides/slide8.xml"/><Relationship Id="rId35" Type="http://schemas.openxmlformats.org/officeDocument/2006/relationships/font" Target="fonts/Barlow-regular.fntdata"/><Relationship Id="rId12" Type="http://schemas.openxmlformats.org/officeDocument/2006/relationships/slide" Target="slides/slide7.xml"/><Relationship Id="rId34" Type="http://schemas.openxmlformats.org/officeDocument/2006/relationships/font" Target="fonts/BarlowLight-boldItalic.fntdata"/><Relationship Id="rId15" Type="http://schemas.openxmlformats.org/officeDocument/2006/relationships/slide" Target="slides/slide10.xml"/><Relationship Id="rId37" Type="http://schemas.openxmlformats.org/officeDocument/2006/relationships/font" Target="fonts/Barlow-italic.fntdata"/><Relationship Id="rId14" Type="http://schemas.openxmlformats.org/officeDocument/2006/relationships/slide" Target="slides/slide9.xml"/><Relationship Id="rId36" Type="http://schemas.openxmlformats.org/officeDocument/2006/relationships/font" Target="fonts/Barlow-bold.fntdata"/><Relationship Id="rId17" Type="http://schemas.openxmlformats.org/officeDocument/2006/relationships/font" Target="fonts/BarlowExtraLight-regular.fntdata"/><Relationship Id="rId16" Type="http://schemas.openxmlformats.org/officeDocument/2006/relationships/slide" Target="slides/slide11.xml"/><Relationship Id="rId38" Type="http://schemas.openxmlformats.org/officeDocument/2006/relationships/font" Target="fonts/Barlow-boldItalic.fntdata"/><Relationship Id="rId19" Type="http://schemas.openxmlformats.org/officeDocument/2006/relationships/font" Target="fonts/BarlowExtraLight-italic.fntdata"/><Relationship Id="rId18" Type="http://schemas.openxmlformats.org/officeDocument/2006/relationships/font" Target="fonts/BarlowExtra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65f49e5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f65f49e5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65f49e5f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f65f49e5f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65f49e5fe_0_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f65f49e5fe_0_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65f49e5fe_0_7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f65f49e5fe_0_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f65f49e5fe_0_7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f65f49e5fe_0_7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f65f49e5fe_0_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f65f49e5fe_0_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65f49e5fe_0_8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f65f49e5fe_0_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f65f49e5f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f65f49e5f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f65f49e5fe_0_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f65f49e5fe_0_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65f49e5fe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f65f49e5fe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f65f49e5fe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f65f49e5fe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2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2" name="Google Shape;62;p1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" name="Google Shape;70;p1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1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" name="Google Shape;78;p1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" name="Google Shape;79;p1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1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" name="Google Shape;88;p1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" name="Google Shape;89;p1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" name="Google Shape;90;p1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" name="Google Shape;103;p1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2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2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7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38" name="Google Shape;138;p24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39" name="Google Shape;139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tx">
  <p:cSld name="TITLE_AND_BODY">
    <p:bg>
      <p:bgPr>
        <a:solidFill>
          <a:schemeClr val="accent4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2" name="Google Shape;142;p25"/>
          <p:cNvSpPr txBox="1"/>
          <p:nvPr>
            <p:ph idx="2" type="body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3" name="Google Shape;143;p25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4" name="Google Shape;144;p25"/>
          <p:cNvSpPr txBox="1"/>
          <p:nvPr>
            <p:ph idx="4" type="body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45" name="Google Shape;145;p25"/>
          <p:cNvSpPr txBox="1"/>
          <p:nvPr>
            <p:ph idx="5" type="body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6" name="Google Shape;146;p25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7" name="Google Shape;147;p25"/>
          <p:cNvSpPr txBox="1"/>
          <p:nvPr>
            <p:ph idx="7" type="body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48" name="Google Shape;148;p25"/>
          <p:cNvSpPr txBox="1"/>
          <p:nvPr>
            <p:ph idx="8" type="body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9" name="Google Shape;149;p25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0" name="Google Shape;150;p25"/>
          <p:cNvSpPr txBox="1"/>
          <p:nvPr>
            <p:ph idx="13" type="body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1" name="Google Shape;151;p25"/>
          <p:cNvSpPr txBox="1"/>
          <p:nvPr>
            <p:ph idx="14" type="body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2" name="Google Shape;152;p25"/>
          <p:cNvSpPr txBox="1"/>
          <p:nvPr>
            <p:ph idx="15" type="subTitle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3" name="Google Shape;153;p25"/>
          <p:cNvSpPr txBox="1"/>
          <p:nvPr>
            <p:ph idx="16" type="body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4" name="Google Shape;154;p25"/>
          <p:cNvSpPr txBox="1"/>
          <p:nvPr>
            <p:ph idx="17" type="body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5" name="Google Shape;155;p25"/>
          <p:cNvSpPr txBox="1"/>
          <p:nvPr>
            <p:ph idx="18" type="subTitle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6" name="Google Shape;156;p25"/>
          <p:cNvSpPr txBox="1"/>
          <p:nvPr>
            <p:ph idx="19" type="body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7" name="Google Shape;157;p25"/>
          <p:cNvSpPr txBox="1"/>
          <p:nvPr>
            <p:ph idx="20" type="body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8" name="Google Shape;158;p25"/>
          <p:cNvSpPr txBox="1"/>
          <p:nvPr>
            <p:ph idx="21" type="subTitle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9" name="Google Shape;159;p25"/>
          <p:cNvSpPr txBox="1"/>
          <p:nvPr>
            <p:ph idx="22" type="body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0" name="Google Shape;160;p2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 type="twoColTx">
  <p:cSld name="TITLE_AND_TWO_COLUMNS">
    <p:bg>
      <p:bgPr>
        <a:solidFill>
          <a:schemeClr val="dk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6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i="1" sz="7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64" name="Google Shape;164;p26"/>
          <p:cNvSpPr/>
          <p:nvPr>
            <p:ph idx="2" type="pic"/>
          </p:nvPr>
        </p:nvSpPr>
        <p:spPr>
          <a:xfrm>
            <a:off x="3915225" y="1631250"/>
            <a:ext cx="4441200" cy="300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6" name="Google Shape;166;p26"/>
          <p:cNvSpPr txBox="1"/>
          <p:nvPr>
            <p:ph idx="3" type="subTitle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67" name="Google Shape;167;p2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"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7"/>
          <p:cNvSpPr txBox="1"/>
          <p:nvPr>
            <p:ph idx="1" type="subTitle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71" name="Google Shape;171;p27"/>
          <p:cNvSpPr txBox="1"/>
          <p:nvPr>
            <p:ph idx="2" type="body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" name="Google Shape;172;p27"/>
          <p:cNvSpPr txBox="1"/>
          <p:nvPr>
            <p:ph idx="3" type="body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2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 type="titleOnly">
  <p:cSld name="TITLE_ONLY">
    <p:bg>
      <p:bgPr>
        <a:solidFill>
          <a:schemeClr val="accent4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/>
          <p:nvPr>
            <p:ph idx="2" type="pic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28"/>
          <p:cNvSpPr/>
          <p:nvPr>
            <p:ph idx="3" type="pic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28"/>
          <p:cNvSpPr/>
          <p:nvPr>
            <p:ph idx="4" type="pic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8"/>
          <p:cNvSpPr/>
          <p:nvPr>
            <p:ph idx="5" type="pic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80" name="Google Shape;180;p28"/>
          <p:cNvSpPr txBox="1"/>
          <p:nvPr>
            <p:ph idx="6" type="body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7" type="body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2" name="Google Shape;182;p28"/>
          <p:cNvSpPr txBox="1"/>
          <p:nvPr>
            <p:ph idx="8" type="body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3" name="Google Shape;183;p28"/>
          <p:cNvSpPr txBox="1"/>
          <p:nvPr>
            <p:ph idx="9" type="body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4" name="Google Shape;184;p28"/>
          <p:cNvSpPr txBox="1"/>
          <p:nvPr>
            <p:ph idx="13" type="body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5" name="Google Shape;185;p28"/>
          <p:cNvSpPr txBox="1"/>
          <p:nvPr>
            <p:ph idx="14" type="body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6" name="Google Shape;186;p28"/>
          <p:cNvSpPr txBox="1"/>
          <p:nvPr>
            <p:ph idx="15" type="body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7" name="Google Shape;187;p28"/>
          <p:cNvSpPr txBox="1"/>
          <p:nvPr>
            <p:ph idx="16" type="body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8" name="Google Shape;188;p28"/>
          <p:cNvSpPr txBox="1"/>
          <p:nvPr>
            <p:ph idx="17" type="body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9" name="Google Shape;189;p2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Landscape">
  <p:cSld name="ONE_COLUMN_TEXT"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2" name="Google Shape;192;p29"/>
          <p:cNvSpPr txBox="1"/>
          <p:nvPr>
            <p:ph idx="2" type="subTitle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93" name="Google Shape;193;p2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 + Data">
  <p:cSld name="MAIN_POINT">
    <p:bg>
      <p:bgPr>
        <a:solidFill>
          <a:schemeClr val="dk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idx="1" type="subTitle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6" name="Google Shape;196;p30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/>
        </p:txBody>
      </p:sp>
      <p:sp>
        <p:nvSpPr>
          <p:cNvPr id="197" name="Google Shape;197;p30"/>
          <p:cNvSpPr txBox="1"/>
          <p:nvPr>
            <p:ph idx="3" type="body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8" name="Google Shape;198;p3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4"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1" name="Google Shape;201;p31"/>
          <p:cNvSpPr txBox="1"/>
          <p:nvPr>
            <p:ph idx="2" type="title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2" name="Google Shape;202;p31"/>
          <p:cNvSpPr txBox="1"/>
          <p:nvPr>
            <p:ph idx="3" type="title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3" name="Google Shape;203;p31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4" name="Google Shape;204;p31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5" name="Google Shape;205;p31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6" name="Google Shape;206;p3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9" name="Google Shape;209;p32"/>
          <p:cNvSpPr txBox="1"/>
          <p:nvPr>
            <p:ph idx="1" type="body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0" name="Google Shape;210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TITLE_AND_DESCRIPTION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3" name="Google Shape;213;p33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14" name="Google Shape;214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"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4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8" name="Google Shape;218;p34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0" name="Google Shape;220;p34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4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ors / 4 column text">
  <p:cSld name="BIG_NUMBER">
    <p:bg>
      <p:bgPr>
        <a:solidFill>
          <a:schemeClr val="dk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24" name="Google Shape;224;p35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2"/>
              </a:solidFill>
            </a:endParaRPr>
          </a:p>
        </p:txBody>
      </p:sp>
      <p:sp>
        <p:nvSpPr>
          <p:cNvPr id="225" name="Google Shape;225;p35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lt1"/>
              </a:solidFill>
            </a:endParaRPr>
          </a:p>
        </p:txBody>
      </p:sp>
      <p:sp>
        <p:nvSpPr>
          <p:cNvPr id="226" name="Google Shape;226;p35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accent5"/>
              </a:solidFill>
            </a:endParaRPr>
          </a:p>
        </p:txBody>
      </p:sp>
      <p:sp>
        <p:nvSpPr>
          <p:cNvPr id="227" name="Google Shape;227;p35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28" name="Google Shape;228;p35"/>
          <p:cNvSpPr txBox="1"/>
          <p:nvPr>
            <p:ph idx="2" type="body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29" name="Google Shape;229;p3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2" name="Google Shape;232;p36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33" name="Google Shape;233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1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7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7" name="Google Shape;237;p37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" name="Google Shape;238;p3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8"/>
          <p:cNvSpPr txBox="1"/>
          <p:nvPr>
            <p:ph idx="1" type="body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274300" lIns="274300" spcFirstLastPara="1" rIns="27430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2" name="Google Shape;242;p38"/>
          <p:cNvSpPr txBox="1"/>
          <p:nvPr>
            <p:ph idx="3" type="subTitle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0" lIns="274300" spcFirstLastPara="1" rIns="274300" wrap="square" tIns="2743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43" name="Google Shape;243;p38"/>
          <p:cNvSpPr txBox="1"/>
          <p:nvPr>
            <p:ph idx="4" type="body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4" name="Google Shape;24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/>
          <p:nvPr>
            <p:ph idx="2" type="pic"/>
          </p:nvPr>
        </p:nvSpPr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7" name="Google Shape;247;p39"/>
          <p:cNvSpPr txBox="1"/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48" name="Google Shape;248;p39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9" name="Google Shape;249;p3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">
    <p:bg>
      <p:bgPr>
        <a:solidFill>
          <a:schemeClr val="dk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idx="1" type="body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2" name="Google Shape;252;p40"/>
          <p:cNvSpPr txBox="1"/>
          <p:nvPr>
            <p:ph idx="2" type="body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3" name="Google Shape;253;p40"/>
          <p:cNvSpPr txBox="1"/>
          <p:nvPr>
            <p:ph idx="3" type="body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4" name="Google Shape;254;p40"/>
          <p:cNvSpPr txBox="1"/>
          <p:nvPr>
            <p:ph idx="4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5" name="Google Shape;255;p40"/>
          <p:cNvSpPr txBox="1"/>
          <p:nvPr>
            <p:ph idx="5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6" name="Google Shape;256;p40"/>
          <p:cNvSpPr txBox="1"/>
          <p:nvPr>
            <p:ph idx="6" type="body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57" name="Google Shape;257;p40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40"/>
          <p:cNvSpPr/>
          <p:nvPr>
            <p:ph idx="7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9" name="Google Shape;259;p40"/>
          <p:cNvSpPr/>
          <p:nvPr>
            <p:ph idx="8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0" name="Google Shape;260;p40"/>
          <p:cNvSpPr/>
          <p:nvPr>
            <p:ph idx="9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1" name="Google Shape;261;p40"/>
          <p:cNvSpPr/>
          <p:nvPr>
            <p:ph idx="13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2" name="Google Shape;262;p40"/>
          <p:cNvSpPr/>
          <p:nvPr>
            <p:ph idx="14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3" name="Google Shape;263;p40"/>
          <p:cNvSpPr txBox="1"/>
          <p:nvPr>
            <p:ph idx="15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64" name="Google Shape;264;p40"/>
          <p:cNvSpPr txBox="1"/>
          <p:nvPr>
            <p:ph idx="16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65" name="Google Shape;265;p40"/>
          <p:cNvSpPr txBox="1"/>
          <p:nvPr>
            <p:ph idx="17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6" name="Google Shape;266;p40"/>
          <p:cNvSpPr txBox="1"/>
          <p:nvPr>
            <p:ph idx="18" type="body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7" name="Google Shape;267;p40"/>
          <p:cNvSpPr txBox="1"/>
          <p:nvPr>
            <p:ph idx="19" type="body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8" name="Google Shape;268;p40"/>
          <p:cNvSpPr txBox="1"/>
          <p:nvPr>
            <p:ph idx="20" type="body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9" name="Google Shape;269;p4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idx="1" type="body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72" name="Google Shape;272;p41"/>
          <p:cNvSpPr txBox="1"/>
          <p:nvPr>
            <p:ph idx="2" type="subTitle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73" name="Google Shape;273;p4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2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76" name="Google Shape;276;p42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7" name="Google Shape;277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80" name="Google Shape;280;p43"/>
          <p:cNvSpPr txBox="1"/>
          <p:nvPr>
            <p:ph idx="1" type="body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1" name="Google Shape;281;p43"/>
          <p:cNvSpPr txBox="1"/>
          <p:nvPr>
            <p:ph idx="2" type="body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2" name="Google Shape;282;p43"/>
          <p:cNvSpPr txBox="1"/>
          <p:nvPr>
            <p:ph idx="3" type="body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3" name="Google Shape;283;p43"/>
          <p:cNvSpPr txBox="1"/>
          <p:nvPr>
            <p:ph idx="4" type="body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4" name="Google Shape;284;p43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5" name="Google Shape;285;p43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6" name="Google Shape;286;p43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7" name="Google Shape;287;p43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88" name="Google Shape;288;p43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89" name="Google Shape;289;p43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90" name="Google Shape;290;p43"/>
          <p:cNvSpPr txBox="1"/>
          <p:nvPr>
            <p:ph idx="14" type="body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91" name="Google Shape;291;p43"/>
          <p:cNvSpPr txBox="1"/>
          <p:nvPr>
            <p:ph idx="15" type="body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2" name="Google Shape;292;p43"/>
          <p:cNvSpPr txBox="1"/>
          <p:nvPr>
            <p:ph idx="16" type="body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3" name="Google Shape;293;p4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4"/>
          <p:cNvSpPr txBox="1"/>
          <p:nvPr>
            <p:ph idx="1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6" name="Google Shape;296;p44"/>
          <p:cNvSpPr txBox="1"/>
          <p:nvPr>
            <p:ph idx="2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97" name="Google Shape;297;p44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44"/>
          <p:cNvSpPr/>
          <p:nvPr>
            <p:ph idx="3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9" name="Google Shape;299;p44"/>
          <p:cNvSpPr/>
          <p:nvPr>
            <p:ph idx="4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0" name="Google Shape;300;p44"/>
          <p:cNvSpPr/>
          <p:nvPr>
            <p:ph idx="5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1" name="Google Shape;301;p44"/>
          <p:cNvSpPr/>
          <p:nvPr>
            <p:ph idx="6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2" name="Google Shape;302;p44"/>
          <p:cNvSpPr/>
          <p:nvPr>
            <p:ph idx="7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3" name="Google Shape;303;p44"/>
          <p:cNvSpPr txBox="1"/>
          <p:nvPr>
            <p:ph idx="8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4" name="Google Shape;304;p44"/>
          <p:cNvSpPr txBox="1"/>
          <p:nvPr>
            <p:ph idx="9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05" name="Google Shape;305;p44"/>
          <p:cNvSpPr txBox="1"/>
          <p:nvPr>
            <p:ph idx="13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6" name="Google Shape;306;p44"/>
          <p:cNvSpPr txBox="1"/>
          <p:nvPr>
            <p:ph idx="14" type="body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7" name="Google Shape;307;p44"/>
          <p:cNvSpPr txBox="1"/>
          <p:nvPr>
            <p:ph idx="15" type="body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8" name="Google Shape;308;p44"/>
          <p:cNvSpPr txBox="1"/>
          <p:nvPr>
            <p:ph idx="16" type="body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9" name="Google Shape;309;p44"/>
          <p:cNvSpPr txBox="1"/>
          <p:nvPr>
            <p:ph idx="17" type="body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0" name="Google Shape;310;p44"/>
          <p:cNvSpPr txBox="1"/>
          <p:nvPr>
            <p:ph idx="18" type="body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1" name="Google Shape;311;p44"/>
          <p:cNvSpPr txBox="1"/>
          <p:nvPr>
            <p:ph idx="19" type="body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2" name="Google Shape;312;p44"/>
          <p:cNvSpPr txBox="1"/>
          <p:nvPr>
            <p:ph idx="20" type="body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3" name="Google Shape;313;p4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5"/>
          <p:cNvSpPr txBox="1"/>
          <p:nvPr>
            <p:ph idx="1" type="body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6" name="Google Shape;316;p45"/>
          <p:cNvSpPr txBox="1"/>
          <p:nvPr>
            <p:ph idx="2" type="body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17" name="Google Shape;317;p4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6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20" name="Google Shape;320;p46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21" name="Google Shape;321;p4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7"/>
          <p:cNvSpPr txBox="1"/>
          <p:nvPr>
            <p:ph type="title"/>
          </p:nvPr>
        </p:nvSpPr>
        <p:spPr>
          <a:xfrm>
            <a:off x="685375" y="1223225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Drift Detector</a:t>
            </a:r>
            <a:endParaRPr/>
          </a:p>
        </p:txBody>
      </p:sp>
      <p:sp>
        <p:nvSpPr>
          <p:cNvPr id="327" name="Google Shape;327;p47"/>
          <p:cNvSpPr txBox="1"/>
          <p:nvPr>
            <p:ph idx="2" type="subTitle"/>
          </p:nvPr>
        </p:nvSpPr>
        <p:spPr>
          <a:xfrm>
            <a:off x="2524500" y="2420650"/>
            <a:ext cx="40950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CS6620 Final Project</a:t>
            </a:r>
            <a:endParaRPr/>
          </a:p>
        </p:txBody>
      </p:sp>
      <p:sp>
        <p:nvSpPr>
          <p:cNvPr id="328" name="Google Shape;328;p47"/>
          <p:cNvSpPr txBox="1"/>
          <p:nvPr/>
        </p:nvSpPr>
        <p:spPr>
          <a:xfrm>
            <a:off x="3626100" y="4334200"/>
            <a:ext cx="18918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 —-- Anushka Doshi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8"/>
          <p:cNvSpPr txBox="1"/>
          <p:nvPr>
            <p:ph type="title"/>
          </p:nvPr>
        </p:nvSpPr>
        <p:spPr>
          <a:xfrm>
            <a:off x="2313275" y="308725"/>
            <a:ext cx="5861100" cy="113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Core Problem…</a:t>
            </a:r>
            <a:endParaRPr/>
          </a:p>
        </p:txBody>
      </p:sp>
      <p:sp>
        <p:nvSpPr>
          <p:cNvPr id="334" name="Google Shape;334;p48"/>
          <p:cNvSpPr txBox="1"/>
          <p:nvPr>
            <p:ph idx="2" type="title"/>
          </p:nvPr>
        </p:nvSpPr>
        <p:spPr>
          <a:xfrm>
            <a:off x="433550" y="308725"/>
            <a:ext cx="2334600" cy="12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01</a:t>
            </a:r>
            <a:endParaRPr sz="6000"/>
          </a:p>
        </p:txBody>
      </p:sp>
      <p:sp>
        <p:nvSpPr>
          <p:cNvPr id="335" name="Google Shape;335;p48"/>
          <p:cNvSpPr txBox="1"/>
          <p:nvPr/>
        </p:nvSpPr>
        <p:spPr>
          <a:xfrm>
            <a:off x="685650" y="1680125"/>
            <a:ext cx="7922100" cy="233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 Light"/>
              <a:buChar char="●"/>
            </a:pPr>
            <a:r>
              <a:rPr b="1" lang="en" sz="1200">
                <a:solidFill>
                  <a:schemeClr val="dk1"/>
                </a:solidFill>
              </a:rPr>
              <a:t>Infrastructure-as-Code declares a desired state, but live cloud infrastructure quietly drifts from it</a:t>
            </a:r>
            <a:r>
              <a:rPr lang="en" sz="1200">
                <a:solidFill>
                  <a:schemeClr val="dk1"/>
                </a:solidFill>
              </a:rPr>
              <a:t> (a console tweak, an automated change, a manual fix that never makes it back to Terraform).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 Light"/>
              <a:buChar char="●"/>
            </a:pPr>
            <a:r>
              <a:rPr b="1" lang="en" sz="1200">
                <a:solidFill>
                  <a:schemeClr val="dk1"/>
                </a:solidFill>
              </a:rPr>
              <a:t>This drift is a </a:t>
            </a:r>
            <a:r>
              <a:rPr b="1" lang="en" sz="1200" u="sng">
                <a:solidFill>
                  <a:schemeClr val="dk1"/>
                </a:solidFill>
              </a:rPr>
              <a:t>silent security risk</a:t>
            </a:r>
            <a:r>
              <a:rPr lang="en" sz="1200">
                <a:solidFill>
                  <a:schemeClr val="dk1"/>
                </a:solidFill>
              </a:rPr>
              <a:t>. A bucket made public or SSH opened to 0.0.0.0/0 can sit unnoticed until it's exploited or breaks the next deploy.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 Light"/>
              <a:buChar char="●"/>
            </a:pPr>
            <a:r>
              <a:rPr b="1" lang="en" sz="1200">
                <a:solidFill>
                  <a:schemeClr val="dk1"/>
                </a:solidFill>
              </a:rPr>
              <a:t>Terraform plan catches drift  but only when a human runs it</a:t>
            </a:r>
            <a:r>
              <a:rPr lang="en" sz="1200">
                <a:solidFill>
                  <a:schemeClr val="dk1"/>
                </a:solidFill>
              </a:rPr>
              <a:t>, leaving gaps of hours or days between manual checks.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 Light"/>
              <a:buChar char="●"/>
            </a:pPr>
            <a:r>
              <a:rPr b="1" lang="en" sz="1200">
                <a:solidFill>
                  <a:schemeClr val="dk1"/>
                </a:solidFill>
              </a:rPr>
              <a:t>The real need isn't one-time detection but it's continuous, automated monitoring</a:t>
            </a:r>
            <a:r>
              <a:rPr lang="en" sz="1200">
                <a:solidFill>
                  <a:schemeClr val="dk1"/>
                </a:solidFill>
              </a:rPr>
              <a:t> with history and alerting, so drift surfaces in minutes, not whenever someone remembers to look.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/>
          <p:nvPr>
            <p:ph idx="1" type="body"/>
          </p:nvPr>
        </p:nvSpPr>
        <p:spPr>
          <a:xfrm>
            <a:off x="305150" y="1217575"/>
            <a:ext cx="4473900" cy="32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A scheduled Lambda (EventBridge, every 5 min) reads Terraform state from S3, queries live AWS via boto3, and diffs them per resource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Compares Terraform </a:t>
            </a:r>
            <a:r>
              <a:rPr b="1" i="1" lang="en" sz="1100">
                <a:latin typeface="Arial"/>
                <a:ea typeface="Arial"/>
                <a:cs typeface="Arial"/>
                <a:sym typeface="Arial"/>
              </a:rPr>
              <a:t>state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 (recorded desired state) against </a:t>
            </a:r>
            <a:r>
              <a:rPr b="1" i="1" lang="en" sz="1100">
                <a:latin typeface="Arial"/>
                <a:ea typeface="Arial"/>
                <a:cs typeface="Arial"/>
                <a:sym typeface="Arial"/>
              </a:rPr>
              <a:t>live reality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 and not .tf code against reality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Drift is recorded in DynamoDB (full history + lifecycle) and alerts fire via SNS email and Slack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A dashboard reads DynamoDB to show what's drifting now, what resolved, and each resource's timeline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49"/>
          <p:cNvSpPr txBox="1"/>
          <p:nvPr>
            <p:ph type="title"/>
          </p:nvPr>
        </p:nvSpPr>
        <p:spPr>
          <a:xfrm>
            <a:off x="2623750" y="162550"/>
            <a:ext cx="6162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Solution…</a:t>
            </a:r>
            <a:endParaRPr/>
          </a:p>
        </p:txBody>
      </p:sp>
      <p:pic>
        <p:nvPicPr>
          <p:cNvPr id="342" name="Google Shape;342;p49" title="Screenshot 2026-08-04 at 11.02.12 PM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67" r="367" t="0"/>
          <a:stretch/>
        </p:blipFill>
        <p:spPr>
          <a:xfrm>
            <a:off x="4870075" y="1152775"/>
            <a:ext cx="3962250" cy="3416399"/>
          </a:xfrm>
          <a:prstGeom prst="rect">
            <a:avLst/>
          </a:prstGeom>
        </p:spPr>
      </p:pic>
      <p:sp>
        <p:nvSpPr>
          <p:cNvPr id="343" name="Google Shape;343;p49"/>
          <p:cNvSpPr txBox="1"/>
          <p:nvPr/>
        </p:nvSpPr>
        <p:spPr>
          <a:xfrm>
            <a:off x="177375" y="0"/>
            <a:ext cx="2295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4"/>
                </a:solidFill>
                <a:latin typeface="Hepta Slab"/>
                <a:ea typeface="Hepta Slab"/>
                <a:cs typeface="Hepta Slab"/>
                <a:sym typeface="Hepta Slab"/>
              </a:rPr>
              <a:t>02</a:t>
            </a:r>
            <a:endParaRPr sz="6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0"/>
          <p:cNvSpPr txBox="1"/>
          <p:nvPr>
            <p:ph type="title"/>
          </p:nvPr>
        </p:nvSpPr>
        <p:spPr>
          <a:xfrm>
            <a:off x="2748275" y="188925"/>
            <a:ext cx="596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Challenges…</a:t>
            </a:r>
            <a:endParaRPr/>
          </a:p>
        </p:txBody>
      </p:sp>
      <p:pic>
        <p:nvPicPr>
          <p:cNvPr id="349" name="Google Shape;349;p50" title="Screenshot 2026-08-04 at 8.50.04 PM.png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7975" y="1730675"/>
            <a:ext cx="4027501" cy="2682600"/>
          </a:xfrm>
          <a:prstGeom prst="rect">
            <a:avLst/>
          </a:prstGeom>
        </p:spPr>
      </p:pic>
      <p:pic>
        <p:nvPicPr>
          <p:cNvPr id="350" name="Google Shape;350;p50" title="Screenshot 2026-08-04 at 8.57.43 PM.png"/>
          <p:cNvPicPr preferRelativeResize="0"/>
          <p:nvPr>
            <p:ph idx="3" type="pic"/>
          </p:nvPr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25" y="1730667"/>
            <a:ext cx="4027499" cy="2682615"/>
          </a:xfrm>
          <a:prstGeom prst="rect">
            <a:avLst/>
          </a:prstGeom>
        </p:spPr>
      </p:pic>
      <p:sp>
        <p:nvSpPr>
          <p:cNvPr id="351" name="Google Shape;351;p50"/>
          <p:cNvSpPr txBox="1"/>
          <p:nvPr>
            <p:ph idx="5" type="subTitle"/>
          </p:nvPr>
        </p:nvSpPr>
        <p:spPr>
          <a:xfrm>
            <a:off x="311725" y="43646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State file</a:t>
            </a:r>
            <a:endParaRPr/>
          </a:p>
        </p:txBody>
      </p:sp>
      <p:sp>
        <p:nvSpPr>
          <p:cNvPr id="352" name="Google Shape;352;p50"/>
          <p:cNvSpPr txBox="1"/>
          <p:nvPr>
            <p:ph idx="6" type="subTitle"/>
          </p:nvPr>
        </p:nvSpPr>
        <p:spPr>
          <a:xfrm>
            <a:off x="4850800" y="43646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AWS API response</a:t>
            </a:r>
            <a:endParaRPr/>
          </a:p>
        </p:txBody>
      </p:sp>
      <p:sp>
        <p:nvSpPr>
          <p:cNvPr id="353" name="Google Shape;353;p50"/>
          <p:cNvSpPr txBox="1"/>
          <p:nvPr/>
        </p:nvSpPr>
        <p:spPr>
          <a:xfrm>
            <a:off x="617475" y="0"/>
            <a:ext cx="2866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4"/>
                </a:solidFill>
                <a:latin typeface="Hepta Slab"/>
                <a:ea typeface="Hepta Slab"/>
                <a:cs typeface="Hepta Slab"/>
                <a:sym typeface="Hepta Slab"/>
              </a:rPr>
              <a:t>03</a:t>
            </a:r>
            <a:endParaRPr/>
          </a:p>
        </p:txBody>
      </p:sp>
      <p:sp>
        <p:nvSpPr>
          <p:cNvPr id="354" name="Google Shape;354;p50"/>
          <p:cNvSpPr txBox="1"/>
          <p:nvPr/>
        </p:nvSpPr>
        <p:spPr>
          <a:xfrm>
            <a:off x="1690700" y="1095525"/>
            <a:ext cx="606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Name_case V/s NameCase</a:t>
            </a:r>
            <a:endParaRPr b="1" i="1" sz="2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1"/>
          <p:cNvSpPr txBox="1"/>
          <p:nvPr>
            <p:ph type="title"/>
          </p:nvPr>
        </p:nvSpPr>
        <p:spPr>
          <a:xfrm>
            <a:off x="2748275" y="188925"/>
            <a:ext cx="596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Challenges…</a:t>
            </a:r>
            <a:endParaRPr/>
          </a:p>
        </p:txBody>
      </p:sp>
      <p:pic>
        <p:nvPicPr>
          <p:cNvPr id="360" name="Google Shape;360;p51" title="Screenshot 2026-08-04 at 9.05.02 PM.png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775" y="1675112"/>
            <a:ext cx="4027500" cy="2682600"/>
          </a:xfrm>
          <a:prstGeom prst="rect">
            <a:avLst/>
          </a:prstGeom>
        </p:spPr>
      </p:pic>
      <p:pic>
        <p:nvPicPr>
          <p:cNvPr id="361" name="Google Shape;361;p51" title="Screenshot 2026-08-04 at 9.10.54 PM.png"/>
          <p:cNvPicPr preferRelativeResize="0"/>
          <p:nvPr>
            <p:ph idx="3" type="pic"/>
          </p:nvPr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5675" y="1668225"/>
            <a:ext cx="4027500" cy="2682600"/>
          </a:xfrm>
          <a:prstGeom prst="rect">
            <a:avLst/>
          </a:prstGeom>
        </p:spPr>
      </p:pic>
      <p:sp>
        <p:nvSpPr>
          <p:cNvPr id="362" name="Google Shape;362;p51"/>
          <p:cNvSpPr txBox="1"/>
          <p:nvPr>
            <p:ph idx="5" type="subTitle"/>
          </p:nvPr>
        </p:nvSpPr>
        <p:spPr>
          <a:xfrm>
            <a:off x="311725" y="43646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State file</a:t>
            </a:r>
            <a:endParaRPr/>
          </a:p>
        </p:txBody>
      </p:sp>
      <p:sp>
        <p:nvSpPr>
          <p:cNvPr id="363" name="Google Shape;363;p51"/>
          <p:cNvSpPr txBox="1"/>
          <p:nvPr>
            <p:ph idx="6" type="subTitle"/>
          </p:nvPr>
        </p:nvSpPr>
        <p:spPr>
          <a:xfrm>
            <a:off x="4850800" y="43646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AWS API response</a:t>
            </a:r>
            <a:endParaRPr/>
          </a:p>
        </p:txBody>
      </p:sp>
      <p:sp>
        <p:nvSpPr>
          <p:cNvPr id="364" name="Google Shape;364;p51"/>
          <p:cNvSpPr txBox="1"/>
          <p:nvPr/>
        </p:nvSpPr>
        <p:spPr>
          <a:xfrm>
            <a:off x="617475" y="0"/>
            <a:ext cx="2866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4"/>
                </a:solidFill>
                <a:latin typeface="Hepta Slab"/>
                <a:ea typeface="Hepta Slab"/>
                <a:cs typeface="Hepta Slab"/>
                <a:sym typeface="Hepta Slab"/>
              </a:rPr>
              <a:t>03</a:t>
            </a:r>
            <a:endParaRPr/>
          </a:p>
        </p:txBody>
      </p:sp>
      <p:sp>
        <p:nvSpPr>
          <p:cNvPr id="365" name="Google Shape;365;p51"/>
          <p:cNvSpPr txBox="1"/>
          <p:nvPr/>
        </p:nvSpPr>
        <p:spPr>
          <a:xfrm>
            <a:off x="1690700" y="1095525"/>
            <a:ext cx="606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Structural Path Mismatch</a:t>
            </a:r>
            <a:endParaRPr b="1" i="1" sz="2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2"/>
          <p:cNvSpPr txBox="1"/>
          <p:nvPr>
            <p:ph type="title"/>
          </p:nvPr>
        </p:nvSpPr>
        <p:spPr>
          <a:xfrm>
            <a:off x="2748275" y="188925"/>
            <a:ext cx="596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Challenges…</a:t>
            </a:r>
            <a:endParaRPr/>
          </a:p>
        </p:txBody>
      </p:sp>
      <p:pic>
        <p:nvPicPr>
          <p:cNvPr id="371" name="Google Shape;371;p52" title="Screenshot 2026-08-04 at 9.28.56 PM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2610" t="0"/>
          <a:stretch/>
        </p:blipFill>
        <p:spPr>
          <a:xfrm>
            <a:off x="416775" y="1668225"/>
            <a:ext cx="3993475" cy="2696376"/>
          </a:xfrm>
          <a:prstGeom prst="rect">
            <a:avLst/>
          </a:prstGeom>
        </p:spPr>
      </p:pic>
      <p:pic>
        <p:nvPicPr>
          <p:cNvPr id="372" name="Google Shape;372;p52" title="Screenshot 2026-08-04 at 9.28.19 PM.png"/>
          <p:cNvPicPr preferRelativeResize="0"/>
          <p:nvPr>
            <p:ph idx="3" type="pic"/>
          </p:nvPr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5675" y="1594750"/>
            <a:ext cx="4027501" cy="2769850"/>
          </a:xfrm>
          <a:prstGeom prst="rect">
            <a:avLst/>
          </a:prstGeom>
        </p:spPr>
      </p:pic>
      <p:sp>
        <p:nvSpPr>
          <p:cNvPr id="373" name="Google Shape;373;p52"/>
          <p:cNvSpPr txBox="1"/>
          <p:nvPr>
            <p:ph idx="5" type="subTitle"/>
          </p:nvPr>
        </p:nvSpPr>
        <p:spPr>
          <a:xfrm>
            <a:off x="311725" y="43646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State file</a:t>
            </a:r>
            <a:endParaRPr/>
          </a:p>
        </p:txBody>
      </p:sp>
      <p:sp>
        <p:nvSpPr>
          <p:cNvPr id="374" name="Google Shape;374;p52"/>
          <p:cNvSpPr txBox="1"/>
          <p:nvPr>
            <p:ph idx="6" type="subTitle"/>
          </p:nvPr>
        </p:nvSpPr>
        <p:spPr>
          <a:xfrm>
            <a:off x="4850800" y="43646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AWS API response</a:t>
            </a:r>
            <a:endParaRPr/>
          </a:p>
        </p:txBody>
      </p:sp>
      <p:sp>
        <p:nvSpPr>
          <p:cNvPr id="375" name="Google Shape;375;p52"/>
          <p:cNvSpPr txBox="1"/>
          <p:nvPr/>
        </p:nvSpPr>
        <p:spPr>
          <a:xfrm>
            <a:off x="617475" y="0"/>
            <a:ext cx="2866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4"/>
                </a:solidFill>
                <a:latin typeface="Hepta Slab"/>
                <a:ea typeface="Hepta Slab"/>
                <a:cs typeface="Hepta Slab"/>
                <a:sym typeface="Hepta Slab"/>
              </a:rPr>
              <a:t>03</a:t>
            </a:r>
            <a:endParaRPr/>
          </a:p>
        </p:txBody>
      </p:sp>
      <p:sp>
        <p:nvSpPr>
          <p:cNvPr id="376" name="Google Shape;376;p52"/>
          <p:cNvSpPr txBox="1"/>
          <p:nvPr/>
        </p:nvSpPr>
        <p:spPr>
          <a:xfrm>
            <a:off x="1690700" y="1095525"/>
            <a:ext cx="606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Unordered </a:t>
            </a:r>
            <a:r>
              <a:rPr b="1" i="1" lang="en" sz="2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Structural Data</a:t>
            </a:r>
            <a:endParaRPr b="1" i="1" sz="2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3"/>
          <p:cNvSpPr txBox="1"/>
          <p:nvPr>
            <p:ph type="title"/>
          </p:nvPr>
        </p:nvSpPr>
        <p:spPr>
          <a:xfrm>
            <a:off x="2360725" y="266050"/>
            <a:ext cx="517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Architecture</a:t>
            </a:r>
            <a:endParaRPr/>
          </a:p>
        </p:txBody>
      </p:sp>
      <p:sp>
        <p:nvSpPr>
          <p:cNvPr id="382" name="Google Shape;382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>
                <a:latin typeface="Barlow"/>
                <a:ea typeface="Barlow"/>
                <a:cs typeface="Barlow"/>
                <a:sym typeface="Barlow"/>
              </a:rPr>
              <a:t>Config for the Common Case, Code for the Structural Case</a:t>
            </a:r>
            <a:endParaRPr b="1" i="1" sz="20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700">
              <a:latin typeface="Barlow"/>
              <a:ea typeface="Barlow"/>
              <a:cs typeface="Barlow"/>
              <a:sym typeface="Barlow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A YAML config declares </a:t>
            </a:r>
            <a:r>
              <a:rPr i="1" lang="en" sz="1700">
                <a:latin typeface="Arial"/>
                <a:ea typeface="Arial"/>
                <a:cs typeface="Arial"/>
                <a:sym typeface="Arial"/>
              </a:rPr>
              <a:t>what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to monitor - no code changes for common case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Examples - R</a:t>
            </a:r>
            <a:r>
              <a:rPr i="1" lang="en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esource types, attributes, name mappings, and where values live </a:t>
            </a:r>
            <a:endParaRPr i="1"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A dynamic engine handles the mechanics generically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i="1" lang="en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Builds the right boto3 client, calls the right API, and diffs declared vs. live for any scalar resource.</a:t>
            </a:r>
            <a:endParaRPr i="1"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i="1"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A Python handler is written only when comparison is genuinely structural 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Like security-group rules, where unordered lists of objects can't be expressed in config</a:t>
            </a:r>
            <a:endParaRPr i="1"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Resources are discovered from the Terraform state file, never hardcoded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Add a resource in Terraform and it's monitored automatically.</a:t>
            </a:r>
            <a:endParaRPr i="1"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i="1"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i="1"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53"/>
          <p:cNvSpPr txBox="1"/>
          <p:nvPr/>
        </p:nvSpPr>
        <p:spPr>
          <a:xfrm>
            <a:off x="311700" y="44275"/>
            <a:ext cx="2577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4"/>
                </a:solidFill>
                <a:latin typeface="Hepta Slab"/>
                <a:ea typeface="Hepta Slab"/>
                <a:cs typeface="Hepta Slab"/>
                <a:sym typeface="Hepta Slab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Architecture Pays Off…</a:t>
            </a:r>
            <a:endParaRPr sz="3000"/>
          </a:p>
        </p:txBody>
      </p:sp>
      <p:sp>
        <p:nvSpPr>
          <p:cNvPr id="389" name="Google Shape;389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ew attribute on an existing type 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one line of YAML, zero code.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New scalar resource type (S3 versioning, EC2 instance type) → a config block, zero new comparison logic.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New structural type (security groups) → one ~40-line handler, isolated from everything else.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One engine, one config format → Multiple resource types with support for different aspects &amp; attributes.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Each resource tracked as a FIRING → RESOLVED lifecycle with history and throttled re-alerting.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5"/>
          <p:cNvSpPr txBox="1"/>
          <p:nvPr>
            <p:ph idx="1" type="body"/>
          </p:nvPr>
        </p:nvSpPr>
        <p:spPr>
          <a:xfrm>
            <a:off x="223725" y="1500875"/>
            <a:ext cx="3996000" cy="24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1900">
                <a:latin typeface="Arial"/>
                <a:ea typeface="Arial"/>
                <a:cs typeface="Arial"/>
                <a:sym typeface="Arial"/>
              </a:rPr>
              <a:t>Attribute drift to a user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 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Integrate CloudTrail to answer “who made this change, and when."</a:t>
            </a:r>
            <a:endParaRPr i="1"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1900">
                <a:latin typeface="Arial"/>
                <a:ea typeface="Arial"/>
                <a:cs typeface="Arial"/>
                <a:sym typeface="Arial"/>
              </a:rPr>
              <a:t>Broaden resource coverage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Integrate Add IAM, RDS type resources to the tool. Easy add due to architecture.</a:t>
            </a:r>
            <a:endParaRPr i="1"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i="1"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i="1"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5"/>
          <p:cNvSpPr txBox="1"/>
          <p:nvPr>
            <p:ph type="title"/>
          </p:nvPr>
        </p:nvSpPr>
        <p:spPr>
          <a:xfrm>
            <a:off x="2255500" y="491100"/>
            <a:ext cx="630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Improvements…</a:t>
            </a:r>
            <a:endParaRPr/>
          </a:p>
        </p:txBody>
      </p:sp>
      <p:sp>
        <p:nvSpPr>
          <p:cNvPr id="396" name="Google Shape;396;p55"/>
          <p:cNvSpPr txBox="1"/>
          <p:nvPr/>
        </p:nvSpPr>
        <p:spPr>
          <a:xfrm>
            <a:off x="0" y="321425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4"/>
                </a:solidFill>
                <a:latin typeface="Hepta Slab"/>
                <a:ea typeface="Hepta Slab"/>
                <a:cs typeface="Hepta Slab"/>
                <a:sym typeface="Hepta Slab"/>
              </a:rPr>
              <a:t>05</a:t>
            </a:r>
            <a:endParaRPr/>
          </a:p>
        </p:txBody>
      </p:sp>
      <p:cxnSp>
        <p:nvCxnSpPr>
          <p:cNvPr id="397" name="Google Shape;397;p55"/>
          <p:cNvCxnSpPr/>
          <p:nvPr/>
        </p:nvCxnSpPr>
        <p:spPr>
          <a:xfrm>
            <a:off x="4565550" y="1338575"/>
            <a:ext cx="12900" cy="3021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8" name="Google Shape;398;p55"/>
          <p:cNvSpPr txBox="1"/>
          <p:nvPr/>
        </p:nvSpPr>
        <p:spPr>
          <a:xfrm>
            <a:off x="4633575" y="1429625"/>
            <a:ext cx="43419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rlow Light"/>
              <a:buChar char="●"/>
            </a:pPr>
            <a:r>
              <a:rPr b="1" lang="en" sz="1900">
                <a:solidFill>
                  <a:schemeClr val="dk1"/>
                </a:solidFill>
              </a:rPr>
              <a:t>Make it production ready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</a:rPr>
              <a:t>Create a stable dashboard URL behind Load balancer, CI/CD, and secrets management to move from MVP to deployable tool.</a:t>
            </a:r>
            <a:endParaRPr i="1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2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rlow Light"/>
              <a:buChar char="●"/>
            </a:pPr>
            <a:r>
              <a:rPr b="1" lang="en" sz="1900">
                <a:solidFill>
                  <a:schemeClr val="dk1"/>
                </a:solidFill>
              </a:rPr>
              <a:t>Detect unmanaged resources?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</a:rPr>
              <a:t>Catch things created entirely outside Terraform, not just drift on managed ones. Explore Driftctl.</a:t>
            </a:r>
            <a:endParaRPr i="1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i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6"/>
          <p:cNvSpPr txBox="1"/>
          <p:nvPr>
            <p:ph idx="2" type="title"/>
          </p:nvPr>
        </p:nvSpPr>
        <p:spPr>
          <a:xfrm>
            <a:off x="1401650" y="1141900"/>
            <a:ext cx="7370400" cy="18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500">
                <a:solidFill>
                  <a:schemeClr val="accent4"/>
                </a:solidFill>
              </a:rPr>
              <a:t>Let's Cause Some Drift! </a:t>
            </a:r>
            <a:r>
              <a:rPr i="1" lang="en" sz="7500">
                <a:solidFill>
                  <a:schemeClr val="accent4"/>
                </a:solidFill>
              </a:rPr>
              <a:t> </a:t>
            </a:r>
            <a:endParaRPr i="1" sz="75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7"/>
          <p:cNvSpPr txBox="1"/>
          <p:nvPr>
            <p:ph type="title"/>
          </p:nvPr>
        </p:nvSpPr>
        <p:spPr>
          <a:xfrm>
            <a:off x="1458051" y="1696800"/>
            <a:ext cx="6398700" cy="17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